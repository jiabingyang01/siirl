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3"/>
  </p:notesMasterIdLst>
  <p:sldIdLst>
    <p:sldId id="256" r:id="rId2"/>
  </p:sldIdLst>
  <p:sldSz cx="11088688" cy="467995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F46"/>
    <a:srgbClr val="DBEAFE"/>
    <a:srgbClr val="1E40AF"/>
    <a:srgbClr val="5B21B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694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84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6" y="765909"/>
            <a:ext cx="8316516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6086" y="2458058"/>
            <a:ext cx="8316516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020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5508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572" y="1166738"/>
            <a:ext cx="9563993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572" y="3131884"/>
            <a:ext cx="9563993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93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348" y="1245820"/>
            <a:ext cx="4712692" cy="29693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13649" y="1245820"/>
            <a:ext cx="4712692" cy="29693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936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792" y="249164"/>
            <a:ext cx="9563993" cy="9045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792" y="1147238"/>
            <a:ext cx="4691034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792" y="1709482"/>
            <a:ext cx="4691034" cy="25143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13648" y="1147238"/>
            <a:ext cx="4714137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13648" y="1709482"/>
            <a:ext cx="4714137" cy="25143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570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5974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5439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792" y="311997"/>
            <a:ext cx="3576390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137" y="673826"/>
            <a:ext cx="5613648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792" y="1403985"/>
            <a:ext cx="3576390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7261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792" y="311997"/>
            <a:ext cx="3576390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14137" y="673826"/>
            <a:ext cx="5613648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792" y="1403985"/>
            <a:ext cx="3576390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9931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847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35343" y="249164"/>
            <a:ext cx="2390998" cy="396604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348" y="249164"/>
            <a:ext cx="7034386" cy="39660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9731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46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348" y="249164"/>
            <a:ext cx="9563993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348" y="1245820"/>
            <a:ext cx="9563993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347" y="4337621"/>
            <a:ext cx="249495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3128" y="4337621"/>
            <a:ext cx="3742432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31386" y="4337621"/>
            <a:ext cx="249495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19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sldNum="0" hdr="0" ftr="0" dt="0"/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94339" y="90043"/>
            <a:ext cx="3364992" cy="45000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339" y="90043"/>
            <a:ext cx="54864" cy="444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3754987" y="90043"/>
            <a:ext cx="3474720" cy="45000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54988" y="90043"/>
            <a:ext cx="54864" cy="444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7522315" y="90043"/>
            <a:ext cx="3474720" cy="45000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22315" y="90043"/>
            <a:ext cx="54864" cy="444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295507" y="254635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95507" y="25463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2707" y="25463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累积窗口步级潜空间编码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56155" y="254636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3956155" y="2546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13356" y="25463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65F4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动作条件化潜空间动力学预测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3483" y="254636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723483" y="2546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80683" y="254636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5B21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策略不变奖励塑形与跨VLA评测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95507" y="709105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</a:rPr>
              <a:t>机器人视觉观测序列</a:t>
            </a:r>
          </a:p>
        </p:txBody>
      </p:sp>
      <p:sp>
        <p:nvSpPr>
          <p:cNvPr id="21" name="Shape 19"/>
          <p:cNvSpPr/>
          <p:nvPr/>
        </p:nvSpPr>
        <p:spPr>
          <a:xfrm>
            <a:off x="386947" y="1039495"/>
            <a:ext cx="360000" cy="360000"/>
          </a:xfrm>
          <a:prstGeom prst="roundRect">
            <a:avLst>
              <a:gd name="adj" fmla="val 11429"/>
            </a:avLst>
          </a:prstGeom>
          <a:solidFill>
            <a:srgbClr val="BFDBFE"/>
          </a:solidFill>
          <a:ln w="6350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20"/>
              <p:cNvSpPr/>
              <p:nvPr/>
            </p:nvSpPr>
            <p:spPr>
              <a:xfrm>
                <a:off x="386947" y="1039495"/>
                <a:ext cx="420624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𝒐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1400" b="1" dirty="0"/>
              </a:p>
            </p:txBody>
          </p:sp>
        </mc:Choice>
        <mc:Fallback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47" y="1039495"/>
                <a:ext cx="420624" cy="3291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880723" y="1039496"/>
            <a:ext cx="360000" cy="360000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 w="6350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22"/>
              <p:cNvSpPr/>
              <p:nvPr/>
            </p:nvSpPr>
            <p:spPr>
              <a:xfrm>
                <a:off x="880723" y="1039495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𝒐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00" b="1" dirty="0"/>
              </a:p>
            </p:txBody>
          </p:sp>
        </mc:Choice>
        <mc:Fallback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23" y="1039495"/>
                <a:ext cx="421200" cy="327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1374499" y="1039496"/>
            <a:ext cx="360000" cy="360000"/>
          </a:xfrm>
          <a:prstGeom prst="roundRect">
            <a:avLst>
              <a:gd name="adj" fmla="val 11429"/>
            </a:avLst>
          </a:prstGeom>
          <a:solidFill>
            <a:srgbClr val="60A5FA"/>
          </a:solidFill>
          <a:ln w="6350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24"/>
              <p:cNvSpPr/>
              <p:nvPr/>
            </p:nvSpPr>
            <p:spPr>
              <a:xfrm>
                <a:off x="1374500" y="1039495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𝒐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00" b="1" dirty="0"/>
              </a:p>
            </p:txBody>
          </p:sp>
        </mc:Choice>
        <mc:Fallback>
          <p:sp>
            <p:nvSpPr>
              <p:cNvPr id="26" name="Text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500" y="1039495"/>
                <a:ext cx="421200" cy="327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25"/>
          <p:cNvSpPr/>
          <p:nvPr/>
        </p:nvSpPr>
        <p:spPr>
          <a:xfrm>
            <a:off x="1868276" y="1039496"/>
            <a:ext cx="360000" cy="36000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 w="6350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26"/>
              <p:cNvSpPr/>
              <p:nvPr/>
            </p:nvSpPr>
            <p:spPr>
              <a:xfrm>
                <a:off x="1891135" y="1039496"/>
                <a:ext cx="360000" cy="36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···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>
          <p:sp>
            <p:nvSpPr>
              <p:cNvPr id="28" name="Tex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135" y="1039496"/>
                <a:ext cx="360000" cy="36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hape 27"/>
          <p:cNvSpPr/>
          <p:nvPr/>
        </p:nvSpPr>
        <p:spPr>
          <a:xfrm>
            <a:off x="2362051" y="1039496"/>
            <a:ext cx="360000" cy="36000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28"/>
              <p:cNvSpPr/>
              <p:nvPr/>
            </p:nvSpPr>
            <p:spPr>
              <a:xfrm>
                <a:off x="2362051" y="1039495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𝒐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𝒕</m:t>
                          </m:r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−</m:t>
                          </m:r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00" b="1" i="1" dirty="0"/>
              </a:p>
            </p:txBody>
          </p:sp>
        </mc:Choice>
        <mc:Fallback>
          <p:sp>
            <p:nvSpPr>
              <p:cNvPr id="30" name="Tex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051" y="1039495"/>
                <a:ext cx="421200" cy="327600"/>
              </a:xfrm>
              <a:prstGeom prst="rect">
                <a:avLst/>
              </a:prstGeom>
              <a:blipFill>
                <a:blip r:embed="rId7"/>
                <a:stretch>
                  <a:fillRect l="-42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hape 29"/>
          <p:cNvSpPr/>
          <p:nvPr/>
        </p:nvSpPr>
        <p:spPr>
          <a:xfrm>
            <a:off x="2855827" y="1039496"/>
            <a:ext cx="360000" cy="360000"/>
          </a:xfrm>
          <a:prstGeom prst="roundRect">
            <a:avLst>
              <a:gd name="adj" fmla="val 11429"/>
            </a:avLst>
          </a:prstGeom>
          <a:solidFill>
            <a:srgbClr val="1D4ED8"/>
          </a:solidFill>
          <a:ln w="6350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30"/>
              <p:cNvSpPr/>
              <p:nvPr/>
            </p:nvSpPr>
            <p:spPr>
              <a:xfrm>
                <a:off x="2855827" y="1039495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𝒐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400" b="1" i="1" dirty="0"/>
              </a:p>
            </p:txBody>
          </p:sp>
        </mc:Choice>
        <mc:Fallback>
          <p:sp>
            <p:nvSpPr>
              <p:cNvPr id="32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827" y="1039495"/>
                <a:ext cx="421200" cy="327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31"/>
              <p:cNvSpPr/>
              <p:nvPr/>
            </p:nvSpPr>
            <p:spPr>
              <a:xfrm>
                <a:off x="295507" y="1492489"/>
                <a:ext cx="3072384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i="1" dirty="0">
                    <a:solidFill>
                      <a:srgbClr val="2563E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ambria Math" pitchFamily="34" charset="-120"/>
                  </a:rPr>
                  <a:t>累积窗口</a:t>
                </a:r>
                <a:r>
                  <a:rPr lang="en-US" sz="1200" b="1" i="1" dirty="0">
                    <a:solidFill>
                      <a:srgbClr val="2563E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𝒐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sz="1200" b="1" i="1" dirty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:</m:t>
                        </m:r>
                        <m:r>
                          <a:rPr lang="en-US" sz="1200" b="1" i="1" dirty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sub>
                    </m:sSub>
                  </m:oMath>
                </a14:m>
                <a:endParaRPr lang="en-US" sz="1200" b="1" dirty="0"/>
              </a:p>
            </p:txBody>
          </p:sp>
        </mc:Choice>
        <mc:Fallback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07" y="1492489"/>
                <a:ext cx="3072384" cy="182880"/>
              </a:xfrm>
              <a:prstGeom prst="rect">
                <a:avLst/>
              </a:prstGeom>
              <a:blipFill>
                <a:blip r:embed="rId9"/>
                <a:stretch>
                  <a:fillRect t="-26667" b="-50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32"/>
          <p:cNvSpPr/>
          <p:nvPr/>
        </p:nvSpPr>
        <p:spPr>
          <a:xfrm>
            <a:off x="295507" y="1708897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563EB"/>
                </a:solidFill>
              </a:rPr>
              <a:t>▼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6947" y="1946641"/>
            <a:ext cx="282888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6947" y="1946641"/>
            <a:ext cx="282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erif" panose="02060603050605020204" pitchFamily="18" charset="0"/>
              </a:rPr>
              <a:t>V-JEPA</a:t>
            </a: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-120"/>
              </a:rPr>
              <a:t> 2 </a:t>
            </a: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erif" panose="02060603050605020204" pitchFamily="18" charset="0"/>
              </a:rPr>
              <a:t>Encoder </a:t>
            </a: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-120"/>
              </a:rPr>
              <a:t> </a:t>
            </a:r>
            <a:r>
              <a:rPr lang="en-US" sz="1600" b="1" i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erif" panose="02060603050605020204" pitchFamily="18" charset="0"/>
              </a:rPr>
              <a:t>(frozen)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DejaVu Serif" panose="0206060305060502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95507" y="2429749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563EB"/>
                </a:solidFill>
              </a:rPr>
              <a:t>▼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2667" y="2675113"/>
            <a:ext cx="279806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dash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 37"/>
              <p:cNvSpPr/>
              <p:nvPr/>
            </p:nvSpPr>
            <p:spPr>
              <a:xfrm>
                <a:off x="432667" y="2675113"/>
                <a:ext cx="2798064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>
                          <a:solidFill>
                            <a:srgbClr val="1E40A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>
                          <a:solidFill>
                            <a:srgbClr val="1E40AF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altLang="zh-CN" b="1" i="1" dirty="0">
                          <a:solidFill>
                            <a:srgbClr val="1E40A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1E40A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1E40AF"/>
                  </a:solidFill>
                </a:endParaRPr>
              </a:p>
            </p:txBody>
          </p:sp>
        </mc:Choice>
        <mc:Fallback>
          <p:sp>
            <p:nvSpPr>
              <p:cNvPr id="39" name="Text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67" y="2675113"/>
                <a:ext cx="2798064" cy="411480"/>
              </a:xfrm>
              <a:prstGeom prst="rect">
                <a:avLst/>
              </a:prstGeom>
              <a:blipFill>
                <a:blip r:embed="rId10"/>
                <a:stretch>
                  <a:fillRect b="-74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38"/>
          <p:cNvSpPr/>
          <p:nvPr/>
        </p:nvSpPr>
        <p:spPr>
          <a:xfrm>
            <a:off x="295507" y="3238465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4B55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每步独立潜空间表征：</a:t>
            </a:r>
            <a:endParaRPr lang="en-US" sz="1400" b="1" dirty="0"/>
          </a:p>
        </p:txBody>
      </p:sp>
      <p:sp>
        <p:nvSpPr>
          <p:cNvPr id="41" name="Shape 39"/>
          <p:cNvSpPr/>
          <p:nvPr/>
        </p:nvSpPr>
        <p:spPr>
          <a:xfrm>
            <a:off x="386947" y="3556717"/>
            <a:ext cx="360000" cy="360000"/>
          </a:xfrm>
          <a:prstGeom prst="roundRect">
            <a:avLst>
              <a:gd name="adj" fmla="val 14286"/>
            </a:avLst>
          </a:prstGeom>
          <a:solidFill>
            <a:srgbClr val="BFDBFE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 40"/>
              <p:cNvSpPr/>
              <p:nvPr/>
            </p:nvSpPr>
            <p:spPr>
              <a:xfrm>
                <a:off x="386947" y="3556717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2" name="Text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47" y="3556717"/>
                <a:ext cx="421200" cy="3276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hape 41"/>
          <p:cNvSpPr/>
          <p:nvPr/>
        </p:nvSpPr>
        <p:spPr>
          <a:xfrm>
            <a:off x="880723" y="3556717"/>
            <a:ext cx="360000" cy="360000"/>
          </a:xfrm>
          <a:prstGeom prst="roundRect">
            <a:avLst>
              <a:gd name="adj" fmla="val 14286"/>
            </a:avLst>
          </a:prstGeom>
          <a:solidFill>
            <a:srgbClr val="93C5FD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 42"/>
              <p:cNvSpPr/>
              <p:nvPr/>
            </p:nvSpPr>
            <p:spPr>
              <a:xfrm>
                <a:off x="880723" y="3556717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4" name="Text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23" y="3556717"/>
                <a:ext cx="421200" cy="3276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hape 43"/>
          <p:cNvSpPr/>
          <p:nvPr/>
        </p:nvSpPr>
        <p:spPr>
          <a:xfrm>
            <a:off x="1374499" y="3556717"/>
            <a:ext cx="360000" cy="360000"/>
          </a:xfrm>
          <a:prstGeom prst="roundRect">
            <a:avLst>
              <a:gd name="adj" fmla="val 14286"/>
            </a:avLst>
          </a:prstGeom>
          <a:solidFill>
            <a:srgbClr val="60A5FA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 44"/>
              <p:cNvSpPr/>
              <p:nvPr/>
            </p:nvSpPr>
            <p:spPr>
              <a:xfrm>
                <a:off x="1374500" y="3556717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1E40A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6" name="Text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500" y="3556717"/>
                <a:ext cx="421200" cy="3276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Shape 45"/>
          <p:cNvSpPr/>
          <p:nvPr/>
        </p:nvSpPr>
        <p:spPr>
          <a:xfrm>
            <a:off x="1868276" y="3556717"/>
            <a:ext cx="360000" cy="36000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 46"/>
              <p:cNvSpPr/>
              <p:nvPr/>
            </p:nvSpPr>
            <p:spPr>
              <a:xfrm>
                <a:off x="1868276" y="3556717"/>
                <a:ext cx="360000" cy="36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···</m:t>
                    </m:r>
                  </m:oMath>
                </a14:m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000" dirty="0"/>
              </a:p>
            </p:txBody>
          </p:sp>
        </mc:Choice>
        <mc:Fallback>
          <p:sp>
            <p:nvSpPr>
              <p:cNvPr id="48" name="Text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276" y="3556717"/>
                <a:ext cx="360000" cy="36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Shape 47"/>
          <p:cNvSpPr/>
          <p:nvPr/>
        </p:nvSpPr>
        <p:spPr>
          <a:xfrm>
            <a:off x="2362051" y="3556717"/>
            <a:ext cx="360000" cy="36000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 48"/>
              <p:cNvSpPr/>
              <p:nvPr/>
            </p:nvSpPr>
            <p:spPr>
              <a:xfrm>
                <a:off x="2362051" y="3556717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𝒕</m:t>
                          </m:r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−</m:t>
                          </m:r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0" name="Text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051" y="3556717"/>
                <a:ext cx="421200" cy="327600"/>
              </a:xfrm>
              <a:prstGeom prst="rect">
                <a:avLst/>
              </a:prstGeom>
              <a:blipFill>
                <a:blip r:embed="rId15"/>
                <a:stretch>
                  <a:fillRect l="-28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Shape 49"/>
          <p:cNvSpPr/>
          <p:nvPr/>
        </p:nvSpPr>
        <p:spPr>
          <a:xfrm>
            <a:off x="2855827" y="3556717"/>
            <a:ext cx="360000" cy="36000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 50"/>
              <p:cNvSpPr/>
              <p:nvPr/>
            </p:nvSpPr>
            <p:spPr>
              <a:xfrm>
                <a:off x="2855827" y="3556717"/>
                <a:ext cx="421200" cy="327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en-US" sz="1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2" name="Text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827" y="3556717"/>
                <a:ext cx="421200" cy="3276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Shape 51"/>
          <p:cNvSpPr/>
          <p:nvPr/>
        </p:nvSpPr>
        <p:spPr>
          <a:xfrm>
            <a:off x="386947" y="4074811"/>
            <a:ext cx="282888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 52"/>
              <p:cNvSpPr/>
              <p:nvPr/>
            </p:nvSpPr>
            <p:spPr>
              <a:xfrm>
                <a:off x="386947" y="4074811"/>
                <a:ext cx="28288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400" b="1" dirty="0" err="1">
                    <a:solidFill>
                      <a:srgbClr val="D97706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目标嵌入</a:t>
                </a:r>
                <a:r>
                  <a:rPr lang="en-US" sz="1400" b="1" dirty="0">
                    <a:solidFill>
                      <a:srgbClr val="D97706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D97706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D97706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𝒛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D97706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sub>
                    </m:sSub>
                    <m:r>
                      <a:rPr lang="en-US" sz="1400" b="1" i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1400" b="1" i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𝑾</m:t>
                    </m:r>
                    <m:r>
                      <a:rPr lang="en-US" sz="1400" b="1" i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1400" b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𝐞𝐱𝐩𝐞𝐫𝐭</m:t>
                    </m:r>
                    <m:r>
                      <a:rPr lang="en-US" sz="1400" b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sz="1400" b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𝐝𝐞𝐦𝐨</m:t>
                    </m:r>
                    <m:r>
                      <a:rPr lang="en-US" sz="1400" b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sz="1400" b="1" i="1" dirty="0">
                        <a:solidFill>
                          <a:srgbClr val="D97706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endParaRPr lang="en-US" sz="1400" b="1" dirty="0"/>
              </a:p>
            </p:txBody>
          </p:sp>
        </mc:Choice>
        <mc:Fallback>
          <p:sp>
            <p:nvSpPr>
              <p:cNvPr id="54" name="Text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47" y="4074811"/>
                <a:ext cx="2828880" cy="384048"/>
              </a:xfrm>
              <a:prstGeom prst="rect">
                <a:avLst/>
              </a:prstGeom>
              <a:blipFill>
                <a:blip r:embed="rId17"/>
                <a:stretch>
                  <a:fillRect l="-1075" r="-215" b="-476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53"/>
          <p:cNvSpPr/>
          <p:nvPr/>
        </p:nvSpPr>
        <p:spPr>
          <a:xfrm>
            <a:off x="3956155" y="707581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65F46"/>
                </a:solidFill>
                <a:latin typeface="微软雅黑" pitchFamily="34" charset="0"/>
                <a:ea typeface="微软雅黑" pitchFamily="34" charset="-122"/>
              </a:rPr>
              <a:t>输入</a:t>
            </a:r>
          </a:p>
        </p:txBody>
      </p:sp>
      <p:sp>
        <p:nvSpPr>
          <p:cNvPr id="56" name="Shape 54"/>
          <p:cNvSpPr/>
          <p:nvPr/>
        </p:nvSpPr>
        <p:spPr>
          <a:xfrm>
            <a:off x="3983588" y="1027303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 55"/>
              <p:cNvSpPr/>
              <p:nvPr/>
            </p:nvSpPr>
            <p:spPr>
              <a:xfrm>
                <a:off x="3983588" y="1027303"/>
                <a:ext cx="123444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400" b="1" dirty="0">
                    <a:solidFill>
                      <a:srgbClr val="1E40AF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状态</a:t>
                </a:r>
                <a:r>
                  <a:rPr lang="en-US" sz="1000" dirty="0">
                    <a:solidFill>
                      <a:srgbClr val="1E40AF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𝒛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sub>
                    </m:sSub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57" name="Text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588" y="1027303"/>
                <a:ext cx="1234440" cy="43891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 56"/>
          <p:cNvSpPr/>
          <p:nvPr/>
        </p:nvSpPr>
        <p:spPr>
          <a:xfrm>
            <a:off x="5218027" y="1027303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99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999" dirty="0"/>
          </a:p>
        </p:txBody>
      </p:sp>
      <p:sp>
        <p:nvSpPr>
          <p:cNvPr id="59" name="Shape 57"/>
          <p:cNvSpPr/>
          <p:nvPr/>
        </p:nvSpPr>
        <p:spPr>
          <a:xfrm>
            <a:off x="5766667" y="1027303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 58"/>
              <p:cNvSpPr/>
              <p:nvPr/>
            </p:nvSpPr>
            <p:spPr>
              <a:xfrm>
                <a:off x="5766667" y="1027303"/>
                <a:ext cx="123444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400" b="1" dirty="0">
                    <a:solidFill>
                      <a:srgbClr val="065F46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动作</a:t>
                </a:r>
                <a:r>
                  <a:rPr lang="en-US" sz="1000" dirty="0">
                    <a:solidFill>
                      <a:srgbClr val="065F46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sub>
                    </m:sSub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60" name="Text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667" y="1027303"/>
                <a:ext cx="1234440" cy="43891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 59"/>
          <p:cNvSpPr/>
          <p:nvPr/>
        </p:nvSpPr>
        <p:spPr>
          <a:xfrm>
            <a:off x="3956155" y="150279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059669"/>
                </a:solidFill>
              </a:rPr>
              <a:t>▼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3983587" y="1758823"/>
            <a:ext cx="3017520" cy="79200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047595" y="1850264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47595" y="1850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400" b="1" dirty="0"/>
          </a:p>
        </p:txBody>
      </p:sp>
      <p:sp>
        <p:nvSpPr>
          <p:cNvPr id="65" name="Shape 63"/>
          <p:cNvSpPr/>
          <p:nvPr/>
        </p:nvSpPr>
        <p:spPr>
          <a:xfrm>
            <a:off x="4766923" y="1850264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66923" y="1850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400" b="1" dirty="0"/>
          </a:p>
        </p:txBody>
      </p:sp>
      <p:sp>
        <p:nvSpPr>
          <p:cNvPr id="67" name="Shape 65"/>
          <p:cNvSpPr/>
          <p:nvPr/>
        </p:nvSpPr>
        <p:spPr>
          <a:xfrm>
            <a:off x="5577691" y="1850264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77691" y="1850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400" b="1" dirty="0"/>
          </a:p>
        </p:txBody>
      </p:sp>
      <p:sp>
        <p:nvSpPr>
          <p:cNvPr id="69" name="Shape 67"/>
          <p:cNvSpPr/>
          <p:nvPr/>
        </p:nvSpPr>
        <p:spPr>
          <a:xfrm>
            <a:off x="6297019" y="1850264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97019" y="1850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400" b="1" dirty="0"/>
          </a:p>
        </p:txBody>
      </p:sp>
      <p:sp>
        <p:nvSpPr>
          <p:cNvPr id="71" name="Text 69"/>
          <p:cNvSpPr/>
          <p:nvPr/>
        </p:nvSpPr>
        <p:spPr>
          <a:xfrm>
            <a:off x="4047595" y="2334895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Transformer</a:t>
            </a:r>
            <a:endParaRPr lang="en-US" sz="1400" b="1" dirty="0"/>
          </a:p>
        </p:txBody>
      </p:sp>
      <p:sp>
        <p:nvSpPr>
          <p:cNvPr id="72" name="Text 70"/>
          <p:cNvSpPr/>
          <p:nvPr/>
        </p:nvSpPr>
        <p:spPr>
          <a:xfrm>
            <a:off x="3956155" y="2581784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059669"/>
                </a:solidFill>
              </a:rPr>
              <a:t>▼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3983587" y="2817495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EE7B7"/>
            </a:solidFill>
            <a:prstDash val="dash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 72"/>
              <p:cNvSpPr/>
              <p:nvPr/>
            </p:nvSpPr>
            <p:spPr>
              <a:xfrm>
                <a:off x="4093315" y="2817495"/>
                <a:ext cx="2798064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 dirty="0">
                                  <a:solidFill>
                                    <a:srgbClr val="065F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dirty="0">
                                  <a:solidFill>
                                    <a:srgbClr val="065F46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acc>
                        </m:e>
                        <m:sub>
                          <m: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065F46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65F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65F46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65F46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b="1" i="1" dirty="0">
                              <a:solidFill>
                                <a:srgbClr val="065F46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65F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65F46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65F46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rgbClr val="065F46"/>
                  </a:solidFill>
                </a:endParaRPr>
              </a:p>
            </p:txBody>
          </p:sp>
        </mc:Choice>
        <mc:Fallback>
          <p:sp>
            <p:nvSpPr>
              <p:cNvPr id="74" name="Text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315" y="2817495"/>
                <a:ext cx="2798064" cy="411480"/>
              </a:xfrm>
              <a:prstGeom prst="rect">
                <a:avLst/>
              </a:prstGeom>
              <a:blipFill>
                <a:blip r:embed="rId20"/>
                <a:stretch>
                  <a:fillRect t="-1471" b="-735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Shape 73"/>
          <p:cNvSpPr/>
          <p:nvPr/>
        </p:nvSpPr>
        <p:spPr>
          <a:xfrm>
            <a:off x="3983587" y="3342767"/>
            <a:ext cx="3017520" cy="90000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 74"/>
              <p:cNvSpPr/>
              <p:nvPr/>
            </p:nvSpPr>
            <p:spPr>
              <a:xfrm>
                <a:off x="4139035" y="3351911"/>
                <a:ext cx="2798064" cy="8548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200" b="1" dirty="0">
                    <a:solidFill>
                      <a:srgbClr val="065F46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⚡ 动作因果归因</a:t>
                </a:r>
                <a:endParaRPr lang="en-US" sz="1200" dirty="0"/>
              </a:p>
              <a:p>
                <a:pPr>
                  <a:lnSpc>
                    <a:spcPct val="120000"/>
                  </a:lnSpc>
                </a:pPr>
                <a:r>
                  <a:rPr lang="en-US" sz="1200" b="1" dirty="0">
                    <a:solidFill>
                      <a:srgbClr val="4B5563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同一状态下：</a:t>
                </a:r>
                <a:endParaRPr lang="en-US" sz="1200" b="1" dirty="0"/>
              </a:p>
              <a:p>
                <a:pPr>
                  <a:lnSpc>
                    <a:spcPct val="120000"/>
                  </a:lnSpc>
                </a:pPr>
                <a:r>
                  <a:rPr lang="en-US" sz="1200" b="1" dirty="0">
                    <a:solidFill>
                      <a:srgbClr val="10B981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好动作 →</a:t>
                </a:r>
                <a:r>
                  <a:rPr lang="en-US" altLang="zh-CN" sz="1200" b="1" dirty="0">
                    <a:solidFill>
                      <a:srgbClr val="065F46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dirty="0">
                            <a:solidFill>
                              <a:srgbClr val="10B981"/>
                            </a:solidFill>
                            <a:latin typeface="微软雅黑" pitchFamily="34" charset="0"/>
                            <a:ea typeface="微软雅黑" pitchFamily="34" charset="-122"/>
                            <a:cs typeface="微软雅黑" pitchFamily="34" charset="-12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1200" b="1" dirty="0">
                                <a:solidFill>
                                  <a:srgbClr val="10B981"/>
                                </a:solidFill>
                                <a:latin typeface="微软雅黑" pitchFamily="34" charset="0"/>
                                <a:ea typeface="微软雅黑" pitchFamily="34" charset="-122"/>
                                <a:cs typeface="微软雅黑" pitchFamily="34" charset="-120"/>
                              </a:rPr>
                            </m:ctrlPr>
                          </m:accPr>
                          <m:e>
                            <m:r>
                              <a:rPr lang="en-US" altLang="zh-CN" sz="1200" b="1" dirty="0">
                                <a:solidFill>
                                  <a:srgbClr val="10B981"/>
                                </a:solidFill>
                                <a:latin typeface="微软雅黑" pitchFamily="34" charset="0"/>
                                <a:ea typeface="微软雅黑" pitchFamily="34" charset="-122"/>
                                <a:cs typeface="微软雅黑" pitchFamily="34" charset="-120"/>
                              </a:rPr>
                              <m:t>𝒛</m:t>
                            </m:r>
                          </m:e>
                        </m:acc>
                      </m:e>
                      <m:sub>
                        <m:r>
                          <a:rPr lang="en-US" altLang="zh-CN" sz="1200" b="1" dirty="0">
                            <a:solidFill>
                              <a:srgbClr val="10B981"/>
                            </a:solidFill>
                            <a:latin typeface="微软雅黑" pitchFamily="34" charset="0"/>
                            <a:ea typeface="微软雅黑" pitchFamily="34" charset="-122"/>
                            <a:cs typeface="微软雅黑" pitchFamily="34" charset="-120"/>
                          </a:rPr>
                          <m:t>𝒕</m:t>
                        </m:r>
                        <m:r>
                          <a:rPr lang="en-US" altLang="zh-CN" sz="1200" b="1" dirty="0">
                            <a:solidFill>
                              <a:srgbClr val="10B981"/>
                            </a:solidFill>
                            <a:latin typeface="微软雅黑" pitchFamily="34" charset="0"/>
                            <a:ea typeface="微软雅黑" pitchFamily="34" charset="-122"/>
                            <a:cs typeface="微软雅黑" pitchFamily="34" charset="-120"/>
                          </a:rPr>
                          <m:t>+</m:t>
                        </m:r>
                        <m:r>
                          <a:rPr lang="en-US" altLang="zh-CN" sz="1200" b="1" dirty="0">
                            <a:solidFill>
                              <a:srgbClr val="10B981"/>
                            </a:solidFill>
                            <a:latin typeface="微软雅黑" pitchFamily="34" charset="0"/>
                            <a:ea typeface="微软雅黑" pitchFamily="34" charset="-122"/>
                            <a:cs typeface="微软雅黑" pitchFamily="34" charset="-120"/>
                          </a:rPr>
                          <m:t>𝟏</m:t>
                        </m:r>
                      </m:sub>
                    </m:sSub>
                    <m:r>
                      <a:rPr lang="en-US" sz="1200" b="1" dirty="0">
                        <a:solidFill>
                          <a:srgbClr val="10B981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rPr>
                      <m:t> </m:t>
                    </m:r>
                  </m:oMath>
                </a14:m>
                <a:r>
                  <a:rPr lang="en-US" sz="1200" b="1" dirty="0" err="1">
                    <a:solidFill>
                      <a:srgbClr val="10B981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靠近目标（高奖励</a:t>
                </a:r>
                <a:r>
                  <a:rPr lang="en-US" sz="1200" b="1" dirty="0">
                    <a:solidFill>
                      <a:srgbClr val="10B981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）</a:t>
                </a:r>
                <a:endParaRPr lang="en-US" sz="1200" b="1" dirty="0"/>
              </a:p>
              <a:p>
                <a:pPr>
                  <a:lnSpc>
                    <a:spcPct val="120000"/>
                  </a:lnSpc>
                </a:pPr>
                <a:r>
                  <a:rPr lang="en-US" sz="1200" b="1" dirty="0">
                    <a:solidFill>
                      <a:srgbClr val="EF4444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坏动作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dirty="0">
                            <a:solidFill>
                              <a:srgbClr val="EF4444"/>
                            </a:solidFill>
                            <a:latin typeface="微软雅黑" pitchFamily="34" charset="0"/>
                            <a:ea typeface="微软雅黑" pitchFamily="34" charset="-122"/>
                            <a:cs typeface="微软雅黑" pitchFamily="34" charset="-12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1200" b="1" dirty="0">
                                <a:solidFill>
                                  <a:srgbClr val="EF4444"/>
                                </a:solidFill>
                                <a:latin typeface="微软雅黑" pitchFamily="34" charset="0"/>
                                <a:ea typeface="微软雅黑" pitchFamily="34" charset="-122"/>
                                <a:cs typeface="微软雅黑" pitchFamily="34" charset="-120"/>
                              </a:rPr>
                            </m:ctrlPr>
                          </m:accPr>
                          <m:e>
                            <m:r>
                              <a:rPr lang="en-US" altLang="zh-CN" sz="1200" b="1" dirty="0">
                                <a:solidFill>
                                  <a:srgbClr val="EF4444"/>
                                </a:solidFill>
                                <a:latin typeface="微软雅黑" pitchFamily="34" charset="0"/>
                                <a:ea typeface="微软雅黑" pitchFamily="34" charset="-122"/>
                                <a:cs typeface="微软雅黑" pitchFamily="34" charset="-120"/>
                              </a:rPr>
                              <m:t>𝒛</m:t>
                            </m:r>
                          </m:e>
                        </m:acc>
                      </m:e>
                      <m:sub>
                        <m:r>
                          <a:rPr lang="en-US" altLang="zh-CN" sz="1200" b="1" dirty="0">
                            <a:solidFill>
                              <a:srgbClr val="EF4444"/>
                            </a:solidFill>
                            <a:latin typeface="微软雅黑" pitchFamily="34" charset="0"/>
                            <a:ea typeface="微软雅黑" pitchFamily="34" charset="-122"/>
                            <a:cs typeface="微软雅黑" pitchFamily="34" charset="-120"/>
                          </a:rPr>
                          <m:t>𝒕</m:t>
                        </m:r>
                        <m:r>
                          <a:rPr lang="en-US" altLang="zh-CN" sz="1200" b="1" dirty="0">
                            <a:solidFill>
                              <a:srgbClr val="EF4444"/>
                            </a:solidFill>
                            <a:latin typeface="微软雅黑" pitchFamily="34" charset="0"/>
                            <a:ea typeface="微软雅黑" pitchFamily="34" charset="-122"/>
                            <a:cs typeface="微软雅黑" pitchFamily="34" charset="-120"/>
                          </a:rPr>
                          <m:t>+</m:t>
                        </m:r>
                        <m:r>
                          <a:rPr lang="en-US" altLang="zh-CN" sz="1200" b="1" dirty="0">
                            <a:solidFill>
                              <a:srgbClr val="EF4444"/>
                            </a:solidFill>
                            <a:latin typeface="微软雅黑" pitchFamily="34" charset="0"/>
                            <a:ea typeface="微软雅黑" pitchFamily="34" charset="-122"/>
                            <a:cs typeface="微软雅黑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>
                    <a:solidFill>
                      <a:srgbClr val="EF4444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 远离目标（低奖励）</a:t>
                </a:r>
                <a:endParaRPr lang="en-US" sz="1200" b="1" dirty="0"/>
              </a:p>
            </p:txBody>
          </p:sp>
        </mc:Choice>
        <mc:Fallback>
          <p:sp>
            <p:nvSpPr>
              <p:cNvPr id="76" name="Text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035" y="3351911"/>
                <a:ext cx="2798064" cy="854856"/>
              </a:xfrm>
              <a:prstGeom prst="rect">
                <a:avLst/>
              </a:prstGeom>
              <a:blipFill>
                <a:blip r:embed="rId21"/>
                <a:stretch>
                  <a:fillRect l="-3486" t="-5000" b="-114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 75"/>
          <p:cNvSpPr/>
          <p:nvPr/>
        </p:nvSpPr>
        <p:spPr>
          <a:xfrm>
            <a:off x="3956155" y="4294651"/>
            <a:ext cx="3152788" cy="22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4B55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训练：</a:t>
            </a:r>
            <a:r>
              <a:rPr lang="en-US" sz="1000" b="1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L₁ loss  |  </a:t>
            </a:r>
            <a:r>
              <a:rPr lang="zh-CN" altLang="en-US" sz="1000" b="1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多种</a:t>
            </a:r>
            <a:r>
              <a:rPr lang="en-US" sz="1000" b="1" dirty="0" err="1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r>
              <a:rPr lang="en-US" sz="1000" b="1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|  仅单步预测，无误差累积</a:t>
            </a:r>
            <a:endParaRPr lang="en-US" sz="1000" b="1" dirty="0"/>
          </a:p>
        </p:txBody>
      </p:sp>
      <p:sp>
        <p:nvSpPr>
          <p:cNvPr id="78" name="Text 76"/>
          <p:cNvSpPr/>
          <p:nvPr/>
        </p:nvSpPr>
        <p:spPr>
          <a:xfrm>
            <a:off x="7686907" y="709423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B21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进度函数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7769203" y="1010857"/>
            <a:ext cx="2980944" cy="64800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 78"/>
              <p:cNvSpPr/>
              <p:nvPr/>
            </p:nvSpPr>
            <p:spPr>
              <a:xfrm>
                <a:off x="7769203" y="1010855"/>
                <a:ext cx="2980944" cy="64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en-US" altLang="zh-CN" sz="1600" b="1" i="1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1" i="1" dirty="0">
                                      <a:solidFill>
                                        <a:srgbClr val="5B21B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b="1" i="1" dirty="0">
                                          <a:solidFill>
                                            <a:srgbClr val="5B21B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1" dirty="0">
                                          <a:solidFill>
                                            <a:srgbClr val="5B21B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1" i="1" dirty="0">
                                      <a:solidFill>
                                        <a:srgbClr val="5B21B6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5B21B6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5B21B6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  <m:t>  , </m:t>
                              </m:r>
                              <m:sSub>
                                <m:sSubPr>
                                  <m:ctrlPr>
                                    <a:rPr lang="en-US" sz="1600" b="1" i="1" dirty="0">
                                      <a:solidFill>
                                        <a:srgbClr val="5B21B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dirty="0">
                                      <a:solidFill>
                                        <a:srgbClr val="5B21B6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1600" b="1" i="1" dirty="0">
                                      <a:solidFill>
                                        <a:srgbClr val="5B21B6"/>
                                      </a:solidFill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sub>
                              </m:sSub>
                              <m:r>
                                <a:rPr lang="en-US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r>
                            <a:rPr lang="en-US" altLang="zh-CN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  , 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solidFill>
                                    <a:srgbClr val="5B21B6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sub>
                          </m:sSub>
                          <m:r>
                            <a:rPr lang="en-US" altLang="zh-CN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b="1" dirty="0">
                  <a:solidFill>
                    <a:srgbClr val="5B21B6"/>
                  </a:solidFill>
                </a:endParaRPr>
              </a:p>
            </p:txBody>
          </p:sp>
        </mc:Choice>
        <mc:Fallback>
          <p:sp>
            <p:nvSpPr>
              <p:cNvPr id="80" name="Text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203" y="1010855"/>
                <a:ext cx="2980944" cy="648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 79"/>
          <p:cNvSpPr/>
          <p:nvPr/>
        </p:nvSpPr>
        <p:spPr>
          <a:xfrm>
            <a:off x="7723483" y="1751931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B21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PBRS 奖励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7769203" y="2023467"/>
            <a:ext cx="2990088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 81"/>
              <p:cNvSpPr/>
              <p:nvPr/>
            </p:nvSpPr>
            <p:spPr>
              <a:xfrm>
                <a:off x="7769203" y="2023467"/>
                <a:ext cx="3072384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𝒈𝒐𝒍𝒅</m:t>
                          </m:r>
                        </m:sub>
                      </m:sSub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1" i="1" dirty="0">
                          <a:solidFill>
                            <a:srgbClr val="5B21B6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>
                              <a:solidFill>
                                <a:srgbClr val="5B21B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solidFill>
                    <a:srgbClr val="5B21B6"/>
                  </a:solidFill>
                </a:endParaRPr>
              </a:p>
            </p:txBody>
          </p:sp>
        </mc:Choice>
        <mc:Fallback>
          <p:sp>
            <p:nvSpPr>
              <p:cNvPr id="83" name="Text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203" y="2023467"/>
                <a:ext cx="3072384" cy="43891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 83"/>
          <p:cNvSpPr/>
          <p:nvPr/>
        </p:nvSpPr>
        <p:spPr>
          <a:xfrm>
            <a:off x="7723483" y="2609215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B21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进度曲线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7769203" y="2865247"/>
            <a:ext cx="1399032" cy="73152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78931" y="3499231"/>
            <a:ext cx="114300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878931" y="2938399"/>
            <a:ext cx="0" cy="54864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15507" y="3401451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0" name="Shape 88"/>
          <p:cNvSpPr/>
          <p:nvPr/>
        </p:nvSpPr>
        <p:spPr>
          <a:xfrm>
            <a:off x="8046952" y="3350245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1" name="Shape 89"/>
          <p:cNvSpPr/>
          <p:nvPr/>
        </p:nvSpPr>
        <p:spPr>
          <a:xfrm>
            <a:off x="8178397" y="327855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2" name="Shape 90"/>
          <p:cNvSpPr/>
          <p:nvPr/>
        </p:nvSpPr>
        <p:spPr>
          <a:xfrm>
            <a:off x="8309842" y="320174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3" name="Shape 91"/>
          <p:cNvSpPr/>
          <p:nvPr/>
        </p:nvSpPr>
        <p:spPr>
          <a:xfrm>
            <a:off x="8441287" y="3124937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4" name="Shape 92"/>
          <p:cNvSpPr/>
          <p:nvPr/>
        </p:nvSpPr>
        <p:spPr>
          <a:xfrm>
            <a:off x="8572732" y="305324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5" name="Shape 93"/>
          <p:cNvSpPr/>
          <p:nvPr/>
        </p:nvSpPr>
        <p:spPr>
          <a:xfrm>
            <a:off x="8704177" y="2996921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6" name="Shape 94"/>
          <p:cNvSpPr/>
          <p:nvPr/>
        </p:nvSpPr>
        <p:spPr>
          <a:xfrm>
            <a:off x="8835622" y="2955955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7" name="Shape 95"/>
          <p:cNvSpPr/>
          <p:nvPr/>
        </p:nvSpPr>
        <p:spPr>
          <a:xfrm>
            <a:off x="8967067" y="293035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8" name="Text 96"/>
          <p:cNvSpPr/>
          <p:nvPr/>
        </p:nvSpPr>
        <p:spPr>
          <a:xfrm>
            <a:off x="7769203" y="3621151"/>
            <a:ext cx="1399032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成功轨迹 ↗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9351115" y="2865247"/>
            <a:ext cx="1399032" cy="731520"/>
          </a:xfrm>
          <a:prstGeom prst="roundRect">
            <a:avLst>
              <a:gd name="adj" fmla="val 7500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60843" y="3499231"/>
            <a:ext cx="114300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460843" y="2938399"/>
            <a:ext cx="0" cy="54864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97419" y="3401451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628864" y="3360486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760309" y="3319521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891754" y="3288797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023199" y="3299038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154644" y="3319521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286089" y="3340003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417534" y="3360486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548979" y="3375848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1" name="Text 109"/>
          <p:cNvSpPr/>
          <p:nvPr/>
        </p:nvSpPr>
        <p:spPr>
          <a:xfrm>
            <a:off x="9351115" y="3621151"/>
            <a:ext cx="1399032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失败轨迹 →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7723483" y="389699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B21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 VLA 通用评测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7769203" y="4153027"/>
            <a:ext cx="699516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769203" y="4153027"/>
            <a:ext cx="699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-OFT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41871" y="4153027"/>
            <a:ext cx="699516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 114"/>
              <p:cNvSpPr/>
              <p:nvPr/>
            </p:nvSpPr>
            <p:spPr>
              <a:xfrm>
                <a:off x="8541871" y="4153027"/>
                <a:ext cx="699516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05966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5966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𝝅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5966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𝟎</m:t>
                        </m:r>
                      </m:sub>
                    </m:sSub>
                    <m:r>
                      <a:rPr lang="en-US" sz="1200" b="1" i="1" dirty="0">
                        <a:solidFill>
                          <a:srgbClr val="059669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solidFill>
                              <a:srgbClr val="05966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rgbClr val="05966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𝝅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5966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𝟎</m:t>
                        </m:r>
                        <m:r>
                          <a:rPr lang="en-US" sz="1200" b="1" i="1">
                            <a:solidFill>
                              <a:srgbClr val="05966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.</m:t>
                        </m:r>
                        <m:r>
                          <a:rPr lang="en-US" sz="1200" b="1" i="1">
                            <a:solidFill>
                              <a:srgbClr val="05966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sz="12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200" b="1" dirty="0"/>
              </a:p>
            </p:txBody>
          </p:sp>
        </mc:Choice>
        <mc:Fallback>
          <p:sp>
            <p:nvSpPr>
              <p:cNvPr id="116" name="Text 1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871" y="4153027"/>
                <a:ext cx="699516" cy="320040"/>
              </a:xfrm>
              <a:prstGeom prst="rect">
                <a:avLst/>
              </a:prstGeom>
              <a:blipFill>
                <a:blip r:embed="rId24"/>
                <a:stretch>
                  <a:fillRect b="-75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Shape 115"/>
          <p:cNvSpPr/>
          <p:nvPr/>
        </p:nvSpPr>
        <p:spPr>
          <a:xfrm>
            <a:off x="9314539" y="4153027"/>
            <a:ext cx="699516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8" name="Text 116"/>
          <p:cNvSpPr/>
          <p:nvPr/>
        </p:nvSpPr>
        <p:spPr>
          <a:xfrm>
            <a:off x="9314539" y="4153027"/>
            <a:ext cx="699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altLang="zh-CN" sz="1200" b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molVLA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10087207" y="4153027"/>
            <a:ext cx="699516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087207" y="4153027"/>
            <a:ext cx="699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···</a:t>
            </a:r>
            <a:endParaRPr lang="en-US" sz="1200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08833C87-4D06-ACF6-20A3-758CC7F8AD8D}"/>
              </a:ext>
            </a:extLst>
          </p:cNvPr>
          <p:cNvSpPr txBox="1"/>
          <p:nvPr/>
        </p:nvSpPr>
        <p:spPr>
          <a:xfrm>
            <a:off x="5346044" y="1873242"/>
            <a:ext cx="170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65F46"/>
                </a:solidFill>
              </a:rPr>
              <a:t>…</a:t>
            </a:r>
            <a:endParaRPr lang="zh-CN" altLang="en-US" sz="1400" dirty="0">
              <a:solidFill>
                <a:srgbClr val="065F46"/>
              </a:solidFill>
            </a:endParaRPr>
          </a:p>
        </p:txBody>
      </p:sp>
      <p:sp>
        <p:nvSpPr>
          <p:cNvPr id="145" name="Text 193">
            <a:extLst>
              <a:ext uri="{FF2B5EF4-FFF2-40B4-BE49-F238E27FC236}">
                <a16:creationId xmlns:a16="http://schemas.microsoft.com/office/drawing/2014/main" id="{E84E4FA3-5AB9-DA0D-4196-57693C6AE8F7}"/>
              </a:ext>
            </a:extLst>
          </p:cNvPr>
          <p:cNvSpPr/>
          <p:nvPr/>
        </p:nvSpPr>
        <p:spPr>
          <a:xfrm>
            <a:off x="3505051" y="2076641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40AF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DejaVu Serif" panose="02060603050605020204" pitchFamily="18" charset="0"/>
              </a:rPr>
              <a:t>▶</a:t>
            </a:r>
          </a:p>
        </p:txBody>
      </p:sp>
      <p:sp>
        <p:nvSpPr>
          <p:cNvPr id="146" name="Text 193">
            <a:extLst>
              <a:ext uri="{FF2B5EF4-FFF2-40B4-BE49-F238E27FC236}">
                <a16:creationId xmlns:a16="http://schemas.microsoft.com/office/drawing/2014/main" id="{97DAFF9A-990C-FC74-C4FC-B432EDA4F598}"/>
              </a:ext>
            </a:extLst>
          </p:cNvPr>
          <p:cNvSpPr/>
          <p:nvPr/>
        </p:nvSpPr>
        <p:spPr>
          <a:xfrm>
            <a:off x="7281554" y="2050899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65F46"/>
                </a:solidFill>
                <a:latin typeface="DejaVu Serif" panose="02060603050605020204" pitchFamily="18" charset="0"/>
                <a:ea typeface="DejaVu Serif" panose="02060603050605020204" pitchFamily="18" charset="0"/>
                <a:cs typeface="DejaVu Serif" panose="02060603050605020204" pitchFamily="18" charset="0"/>
              </a:rPr>
              <a:t>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348</TotalTime>
  <Words>138</Words>
  <Application>Microsoft Office PowerPoint</Application>
  <PresentationFormat>自定义</PresentationFormat>
  <Paragraphs>59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微软雅黑</vt:lpstr>
      <vt:lpstr>Arial</vt:lpstr>
      <vt:lpstr>Calibri</vt:lpstr>
      <vt:lpstr>Calibri Light</vt:lpstr>
      <vt:lpstr>Cambria Math</vt:lpstr>
      <vt:lpstr>DejaVu Serif</vt:lpstr>
      <vt:lpstr>Office 2013 - 2022 主题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LWM-Reward Pipeline</dc:title>
  <dc:subject>PptxGenJS Presentation</dc:subject>
  <dc:creator>PptxGenJS</dc:creator>
  <cp:lastModifiedBy>佳冰 杨</cp:lastModifiedBy>
  <cp:revision>10</cp:revision>
  <dcterms:created xsi:type="dcterms:W3CDTF">2026-04-14T18:36:33Z</dcterms:created>
  <dcterms:modified xsi:type="dcterms:W3CDTF">2026-04-15T09:14:47Z</dcterms:modified>
</cp:coreProperties>
</file>